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SAFRAN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914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REACh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2D5F"/>
                </a:solidFill>
              </a:defRPr>
            </a:pPr>
            <a:r>
              <a:t>Milestone Dashboard: Documentation &amp;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02D5F"/>
                </a:solidFill>
              </a:defRPr>
            </a:pPr>
            <a:r>
              <a:t>Milestones for this month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600200"/>
          <a:ext cx="3840480" cy="200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768096"/>
                <a:gridCol w="768096"/>
              </a:tblGrid>
              <a:tr h="228600">
                <a:tc>
                  <a:txBody>
                    <a:bodyPr wrap="square" anchor="ctr" bIns="0" tIns="0" lIns="18288" rIns="18288"/>
                    <a:lstStyle/>
                    <a:p/>
                    <a:p>
                      <a:pPr algn="l">
                        <a:defRPr b="1" sz="800">
                          <a:solidFill>
                            <a:srgbClr val="002D5F"/>
                          </a:solidFill>
                          <a:latin typeface="Arial"/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anchor="ctr" bIns="0" tIns="0" lIns="18288" rIns="18288"/>
                    <a:lstStyle/>
                    <a:p/>
                    <a:p>
                      <a:pPr algn="ctr">
                        <a:defRPr b="1" sz="800">
                          <a:solidFill>
                            <a:srgbClr val="002D5F"/>
                          </a:solidFill>
                          <a:latin typeface="Arial"/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anchor="ctr" bIns="0" tIns="0" lIns="18288" rIns="18288"/>
                    <a:lstStyle/>
                    <a:p/>
                    <a:p>
                      <a:pPr algn="ctr">
                        <a:defRPr b="1" sz="800">
                          <a:solidFill>
                            <a:srgbClr val="002D5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55600"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l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ZnNi Line SOPs - Final Review</a:t>
                      </a: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15-Aug-25</a:t>
                      </a: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In Progress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l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Training Materials Complete</a:t>
                      </a: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18-Aug-25</a:t>
                      </a: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l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Documentation QA Review</a:t>
                      </a: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12-Aug-25</a:t>
                      </a: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Complete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l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Process Validation Sign-off</a:t>
                      </a: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20-Aug-25</a:t>
                      </a: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l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Operator Certification Ready</a:t>
                      </a: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25-Aug-25</a:t>
                      </a: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0" y="132588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02D5F"/>
                </a:solidFill>
              </a:defRPr>
            </a:pPr>
            <a:r>
              <a:t>Risks for Documentation and Training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89120" y="1600200"/>
          <a:ext cx="3840480" cy="194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216"/>
                <a:gridCol w="960120"/>
                <a:gridCol w="1152144"/>
              </a:tblGrid>
              <a:tr h="228600">
                <a:tc>
                  <a:txBody>
                    <a:bodyPr wrap="square" anchor="ctr" bIns="0" tIns="0" lIns="18288" rIns="18288"/>
                    <a:lstStyle/>
                    <a:p/>
                    <a:p>
                      <a:pPr algn="l">
                        <a:defRPr b="1" sz="800">
                          <a:solidFill>
                            <a:srgbClr val="002D5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anchor="ctr" bIns="0" tIns="0" lIns="18288" rIns="18288"/>
                    <a:lstStyle/>
                    <a:p/>
                    <a:p>
                      <a:pPr algn="ctr">
                        <a:defRPr b="1" sz="800">
                          <a:solidFill>
                            <a:srgbClr val="002D5F"/>
                          </a:solidFill>
                          <a:latin typeface="Arial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anchor="ctr" bIns="0" tIns="0" lIns="18288" rIns="18288"/>
                    <a:lstStyle/>
                    <a:p/>
                    <a:p>
                      <a:pPr algn="ctr">
                        <a:defRPr b="1" sz="800">
                          <a:solidFill>
                            <a:srgbClr val="002D5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71500"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l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Documentation delays due to SME availability</a:t>
                      </a: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Scheduled dedicated review sessions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l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Training material complexity</a:t>
                      </a: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Simplified modules with visual aids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l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Version control issues</a:t>
                      </a: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Centralized document management system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389120" y="379476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02D5F"/>
                </a:solidFill>
              </a:defRPr>
            </a:pPr>
            <a:r>
              <a:t>Milestones planned for next month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389120" y="4069080"/>
          <a:ext cx="3840480" cy="200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768096"/>
                <a:gridCol w="768096"/>
              </a:tblGrid>
              <a:tr h="228600">
                <a:tc>
                  <a:txBody>
                    <a:bodyPr wrap="square" anchor="ctr" bIns="0" tIns="0" lIns="18288" rIns="18288"/>
                    <a:lstStyle/>
                    <a:p/>
                    <a:p>
                      <a:pPr algn="l">
                        <a:defRPr b="1" sz="800">
                          <a:solidFill>
                            <a:srgbClr val="002D5F"/>
                          </a:solidFill>
                          <a:latin typeface="Arial"/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anchor="ctr" bIns="0" tIns="0" lIns="18288" rIns="18288"/>
                    <a:lstStyle/>
                    <a:p/>
                    <a:p>
                      <a:pPr algn="ctr">
                        <a:defRPr b="1" sz="800">
                          <a:solidFill>
                            <a:srgbClr val="002D5F"/>
                          </a:solidFill>
                          <a:latin typeface="Arial"/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anchor="ctr" bIns="0" tIns="0" lIns="18288" rIns="18288"/>
                    <a:lstStyle/>
                    <a:p/>
                    <a:p>
                      <a:pPr algn="ctr">
                        <a:defRPr b="1" sz="800">
                          <a:solidFill>
                            <a:srgbClr val="002D5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55600"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l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Operator Certification Program</a:t>
                      </a: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08-Sep-25</a:t>
                      </a: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l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Advanced Training Module</a:t>
                      </a: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15-Sep-25</a:t>
                      </a: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l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Documentation Review Cycle</a:t>
                      </a: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22-Sep-25</a:t>
                      </a: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</a:tr>
              <a:tr h="355600"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379476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02D5F"/>
                </a:solidFill>
              </a:defRPr>
            </a:pPr>
            <a:r>
              <a:t>Milestones completed last month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4069080"/>
          <a:ext cx="3840480" cy="200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768096"/>
                <a:gridCol w="768096"/>
              </a:tblGrid>
              <a:tr h="228600">
                <a:tc>
                  <a:txBody>
                    <a:bodyPr wrap="square" anchor="ctr" bIns="0" tIns="0" lIns="18288" rIns="18288"/>
                    <a:lstStyle/>
                    <a:p/>
                    <a:p>
                      <a:pPr algn="l">
                        <a:defRPr b="1" sz="800">
                          <a:solidFill>
                            <a:srgbClr val="002D5F"/>
                          </a:solidFill>
                          <a:latin typeface="Arial"/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anchor="ctr" bIns="0" tIns="0" lIns="18288" rIns="18288"/>
                    <a:lstStyle/>
                    <a:p/>
                    <a:p>
                      <a:pPr algn="ctr">
                        <a:defRPr b="1" sz="800">
                          <a:solidFill>
                            <a:srgbClr val="002D5F"/>
                          </a:solidFill>
                          <a:latin typeface="Arial"/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anchor="ctr" bIns="0" tIns="0" lIns="18288" rIns="18288"/>
                    <a:lstStyle/>
                    <a:p/>
                    <a:p>
                      <a:pPr algn="ctr">
                        <a:defRPr b="1" sz="800">
                          <a:solidFill>
                            <a:srgbClr val="002D5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55600"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l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Emergency Procedures Sign-off</a:t>
                      </a: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28-Jul-25</a:t>
                      </a: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Complete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l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Training Program Phase 1</a:t>
                      </a: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30-Jul-25</a:t>
                      </a: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Complete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l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Documentation Standards v1.0</a:t>
                      </a: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25-Jul-25</a:t>
                      </a: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Complete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</a:tr>
              <a:tr h="355600"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 wrap="square" anchor="ctr" bIns="0" tIns="0" lIns="18288" rIns="18288">
                      <a:noAutofit/>
                    </a:bodyPr>
                    <a:lstStyle/>
                    <a:p/>
                    <a:p>
                      <a:pPr algn="ctr">
                        <a:lnSpc>
                          <a:spcPct val="90000"/>
                        </a:lnSpc>
                        <a:defRPr sz="7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